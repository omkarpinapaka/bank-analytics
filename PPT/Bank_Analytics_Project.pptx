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283" y="1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322196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name, date, and institution.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4B1F9E-4D37-74B4-F712-743110E88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9361E2-8E9B-C628-9636-52F42B589E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2D30D8-88D6-25C6-FC44-4B86076520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F8379A-D7D8-B1FE-FB25-815F64A5D1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78849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5F5CC-FCBD-A0A7-4026-1C453FA27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AB6028-C2BD-9C57-2C43-E90539C445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552D15-931C-D9FB-41C9-5A152FA6F3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AB4802-C61A-19F8-5DB8-4C80A7F8E3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21576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097280"/>
            <a:ext cx="4114800" cy="4114800"/>
          </a:xfrm>
          <a:prstGeom prst="ellipse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0" y="2560320"/>
            <a:ext cx="2560320" cy="2560320"/>
          </a:xfrm>
          <a:prstGeom prst="ellipse">
            <a:avLst/>
          </a:prstGeom>
          <a:solidFill>
            <a:srgbClr val="0F2740"/>
          </a:solidFill>
          <a:ln w="12700">
            <a:solidFill>
              <a:srgbClr val="0F274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008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 ANALYTICS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1732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4A6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3172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6E8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Debit · Credit · Loan Performance Analysis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3017520"/>
            <a:ext cx="1463040" cy="292608"/>
          </a:xfrm>
          <a:prstGeom prst="roundRect">
            <a:avLst>
              <a:gd name="adj" fmla="val 46875"/>
            </a:avLst>
          </a:prstGeom>
          <a:solidFill>
            <a:srgbClr val="1A6FC4"/>
          </a:solidFill>
          <a:ln w="12700">
            <a:solidFill>
              <a:srgbClr val="1A6F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30175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148840" y="3017520"/>
            <a:ext cx="1463040" cy="292608"/>
          </a:xfrm>
          <a:prstGeom prst="roundRect">
            <a:avLst>
              <a:gd name="adj" fmla="val 46875"/>
            </a:avLst>
          </a:prstGeom>
          <a:solidFill>
            <a:srgbClr val="1A6FC4"/>
          </a:solidFill>
          <a:ln w="12700">
            <a:solidFill>
              <a:srgbClr val="1A6F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148840" y="30175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749040" y="3017520"/>
            <a:ext cx="1463040" cy="292608"/>
          </a:xfrm>
          <a:prstGeom prst="roundRect">
            <a:avLst>
              <a:gd name="adj" fmla="val 46875"/>
            </a:avLst>
          </a:prstGeom>
          <a:solidFill>
            <a:srgbClr val="1A6FC4"/>
          </a:solidFill>
          <a:ln w="12700">
            <a:solidFill>
              <a:srgbClr val="1A6FC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749040" y="30175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349240" y="3017520"/>
            <a:ext cx="1463040" cy="292608"/>
          </a:xfrm>
          <a:prstGeom prst="roundRect">
            <a:avLst>
              <a:gd name="adj" fmla="val 46875"/>
            </a:avLst>
          </a:prstGeom>
          <a:solidFill>
            <a:srgbClr val="1A6FC4"/>
          </a:solidFill>
          <a:ln w="12700">
            <a:solidFill>
              <a:srgbClr val="1A6FC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349240" y="30175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2834640"/>
            <a:ext cx="5943600" cy="0"/>
          </a:xfrm>
          <a:prstGeom prst="line">
            <a:avLst/>
          </a:prstGeom>
          <a:noFill/>
          <a:ln w="19050">
            <a:solidFill>
              <a:srgbClr val="F4A61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84048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Analyzing 127M+ in transactions and 65K+ loans to power smarter banking decisions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8229600" cy="731520"/>
          </a:xfrm>
          <a:prstGeom prst="roundRect">
            <a:avLst>
              <a:gd name="adj" fmla="val 12500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  Introduction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94944" y="684393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A8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what and why behind this project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98448"/>
            <a:ext cx="475488" cy="475488"/>
          </a:xfrm>
          <a:prstGeom prst="ellipse">
            <a:avLst/>
          </a:prstGeom>
          <a:solidFill>
            <a:srgbClr val="1A6FC4"/>
          </a:solidFill>
          <a:ln w="12700">
            <a:solidFill>
              <a:srgbClr val="1A6FC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2984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💳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1280160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this project?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627632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full-cycle bank analytics project built on real transactional and lending data — cleaned, modeled, and visualized into two live dashboards.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395728"/>
            <a:ext cx="475488" cy="475488"/>
          </a:xfrm>
          <a:prstGeom prst="ellipse">
            <a:avLst/>
          </a:prstGeom>
          <a:solidFill>
            <a:srgbClr val="F4A61D"/>
          </a:solidFill>
          <a:ln w="12700">
            <a:solidFill>
              <a:srgbClr val="F4A61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3957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2377440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does it matter?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724912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Banks process millions of transactions daily. Without analytics, risk hides in the noise. This project makes that risk visible and actionable.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493008"/>
            <a:ext cx="475488" cy="475488"/>
          </a:xfrm>
          <a:prstGeom prst="ellipse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4930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🏦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474720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we build?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3822192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Debit &amp; Credit dashboard tracking cash flow across branches and banks, and a Loan dashboard monitoring 65.5K loans for defaults and growth trends.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937760" y="1188720"/>
            <a:ext cx="3657600" cy="3474720"/>
          </a:xfrm>
          <a:prstGeom prst="roundRect">
            <a:avLst>
              <a:gd name="adj" fmla="val 3947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20640" y="12344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F4A6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</a:t>
            </a:r>
            <a:endParaRPr lang="en-US" sz="7200" dirty="0"/>
          </a:p>
        </p:txBody>
      </p:sp>
      <p:sp>
        <p:nvSpPr>
          <p:cNvPr id="19" name="Text 17"/>
          <p:cNvSpPr txBox="1"/>
          <p:nvPr/>
        </p:nvSpPr>
        <p:spPr>
          <a:xfrm>
            <a:off x="5120640" y="1920240"/>
            <a:ext cx="3291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the new currency of banking. This project turns raw numbers into decisions.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212080" y="4206240"/>
            <a:ext cx="2286000" cy="0"/>
          </a:xfrm>
          <a:prstGeom prst="line">
            <a:avLst/>
          </a:prstGeom>
          <a:noFill/>
          <a:ln w="19050">
            <a:solidFill>
              <a:srgbClr val="F4A61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120640" y="42976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6E8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by Power BI · Tableau · Excel · MySQL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8229600" cy="731520"/>
          </a:xfrm>
          <a:prstGeom prst="roundRect">
            <a:avLst>
              <a:gd name="adj" fmla="val 12500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  Data Overview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675601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A8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datasets, thousands of records, one story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196596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6E8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29844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🏦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73736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Banks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75688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A8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Axis · HDFC · ICICI · Kotak · PNB · SBI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615184" y="1234440"/>
            <a:ext cx="196596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6E8F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15184" y="129844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🏢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2615184" y="173736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Branches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706624" y="2075688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A8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 Center · Main · East · Downtown · Suburban · North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73168" y="1234440"/>
            <a:ext cx="196596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6E8F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73168" y="129844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4773168" y="173736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2024 Data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864608" y="2075688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A8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months of monthly transaction records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931152" y="1234440"/>
            <a:ext cx="196596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6E8F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931152" y="129844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💼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6931152" y="173736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65.5K Loans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022592" y="2075688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A8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2016 – 2020 · 17 Indian states covered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2880360"/>
            <a:ext cx="4160520" cy="1920240"/>
          </a:xfrm>
          <a:prstGeom prst="roundRect">
            <a:avLst>
              <a:gd name="adj" fmla="val 5714"/>
            </a:avLst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2944368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4A6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Debit &amp; Credit Dataset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3346704"/>
            <a:ext cx="3794760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method: bank transfer, credit card, debit card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Fields: date, amount, branch, bank, account ID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Cleaned in Excel · queried in MySQL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Visualized in Power BI with DAX measures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892040" y="2880360"/>
            <a:ext cx="4160520" cy="1920240"/>
          </a:xfrm>
          <a:prstGeom prst="roundRect">
            <a:avLst>
              <a:gd name="adj" fmla="val 5714"/>
            </a:avLst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074920" y="2944368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4A6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 Loan Dataset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074920" y="3346704"/>
            <a:ext cx="3794760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Borrower: state, age group, religion, grade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Loan: product code, funded amount, status, interest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Queried and aggregated in MySQL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Dashboarded in Power BI and Tableau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8229600" cy="731520"/>
          </a:xfrm>
          <a:prstGeom prst="roundRect">
            <a:avLst>
              <a:gd name="adj" fmla="val 12500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  KPIs — Debit &amp; Credit Dashboard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804672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A8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Formulas and business insights behind each metric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2011680" cy="1627632"/>
          </a:xfrm>
          <a:prstGeom prst="roundRect">
            <a:avLst>
              <a:gd name="adj" fmla="val 5618"/>
            </a:avLst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02920" y="13258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4A6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₹127.6M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76479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6E8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Credit Amount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94360" y="2084832"/>
            <a:ext cx="1645920" cy="0"/>
          </a:xfrm>
          <a:prstGeom prst="line">
            <a:avLst/>
          </a:prstGeom>
          <a:noFill/>
          <a:ln w="9525">
            <a:solidFill>
              <a:srgbClr val="F4A61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" y="2130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📐 SUM(Amount) WHERE Type = "Credit"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242316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D6E8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 total deposits — compared against debits for cash flow health.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606040" y="1234440"/>
            <a:ext cx="2011680" cy="1627632"/>
          </a:xfrm>
          <a:prstGeom prst="roundRect">
            <a:avLst>
              <a:gd name="adj" fmla="val 5618"/>
            </a:avLst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697480" y="13258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4A6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₹127.29M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2697480" y="176479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6E8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Debit Amount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788920" y="2084832"/>
            <a:ext cx="1645920" cy="0"/>
          </a:xfrm>
          <a:prstGeom prst="line">
            <a:avLst/>
          </a:prstGeom>
          <a:noFill/>
          <a:ln w="9525">
            <a:solidFill>
              <a:srgbClr val="F4A61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697480" y="2130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📐 SUM(Amount) WHERE Type = "Debit"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2697480" y="242316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D6E8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 total withdrawals — tracks outflow across all branches.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800600" y="1234440"/>
            <a:ext cx="2011680" cy="1627632"/>
          </a:xfrm>
          <a:prstGeom prst="roundRect">
            <a:avLst>
              <a:gd name="adj" fmla="val 5618"/>
            </a:avLst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892040" y="13258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4A6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1.0025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4892040" y="176479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6E8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to Debit Ratio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983480" y="2084832"/>
            <a:ext cx="1645920" cy="0"/>
          </a:xfrm>
          <a:prstGeom prst="line">
            <a:avLst/>
          </a:prstGeom>
          <a:noFill/>
          <a:ln w="9525">
            <a:solidFill>
              <a:srgbClr val="F4A61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92040" y="2130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📐 Total Credit ÷ Total Debit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242316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D6E8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&gt; 1 = bank receives more than it pays. Positive signal.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995160" y="1234440"/>
            <a:ext cx="2011680" cy="1627632"/>
          </a:xfrm>
          <a:prstGeom prst="roundRect">
            <a:avLst>
              <a:gd name="adj" fmla="val 5618"/>
            </a:avLst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086600" y="13258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4A6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318.12K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7086600" y="176479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6E8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Transaction Amount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178040" y="2084832"/>
            <a:ext cx="1645920" cy="0"/>
          </a:xfrm>
          <a:prstGeom prst="line">
            <a:avLst/>
          </a:prstGeom>
          <a:noFill/>
          <a:ln w="9525">
            <a:solidFill>
              <a:srgbClr val="F4A61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086600" y="2130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📐 Total Credit − Total Debit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7086600" y="242316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D6E8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cash flow for the period. Positive = healthy reserve building.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11480" y="3017520"/>
            <a:ext cx="2011680" cy="1627632"/>
          </a:xfrm>
          <a:prstGeom prst="roundRect">
            <a:avLst>
              <a:gd name="adj" fmla="val 5618"/>
            </a:avLst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02920" y="31089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4A6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0.000190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35478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6E8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Activity Ratio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94360" y="3867912"/>
            <a:ext cx="1645920" cy="0"/>
          </a:xfrm>
          <a:prstGeom prst="line">
            <a:avLst/>
          </a:prstGeom>
          <a:noFill/>
          <a:ln w="9525">
            <a:solidFill>
              <a:srgbClr val="F4A61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2920" y="391363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📐 No. of Transactions ÷ Account Balance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502920" y="420624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D6E8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how active customers are relative to their balances.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2606040" y="3017520"/>
            <a:ext cx="2011680" cy="1627632"/>
          </a:xfrm>
          <a:prstGeom prst="roundRect">
            <a:avLst>
              <a:gd name="adj" fmla="val 5618"/>
            </a:avLst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697480" y="31089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4A6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~9K/mo</a:t>
            </a:r>
            <a:endParaRPr lang="en-US" sz="2000" dirty="0"/>
          </a:p>
        </p:txBody>
      </p:sp>
      <p:sp>
        <p:nvSpPr>
          <p:cNvPr id="37" name="Text 35"/>
          <p:cNvSpPr txBox="1"/>
          <p:nvPr/>
        </p:nvSpPr>
        <p:spPr>
          <a:xfrm>
            <a:off x="2697480" y="35478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6E8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 per Month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788920" y="3867912"/>
            <a:ext cx="1645920" cy="0"/>
          </a:xfrm>
          <a:prstGeom prst="line">
            <a:avLst/>
          </a:prstGeom>
          <a:noFill/>
          <a:ln w="9525">
            <a:solidFill>
              <a:srgbClr val="F4A61D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697480" y="391363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📐 COUNT(Transactions) grouped by Month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2697480" y="420624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D6E8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high/low activity periods. Dec dropped sharply to 0.3K.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4800600" y="3017520"/>
            <a:ext cx="2011680" cy="1627632"/>
          </a:xfrm>
          <a:prstGeom prst="roundRect">
            <a:avLst>
              <a:gd name="adj" fmla="val 5618"/>
            </a:avLst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892040" y="31089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4A6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₹42M avg</a:t>
            </a:r>
            <a:endParaRPr lang="en-US" sz="2000" dirty="0"/>
          </a:p>
        </p:txBody>
      </p:sp>
      <p:sp>
        <p:nvSpPr>
          <p:cNvPr id="43" name="Text 41"/>
          <p:cNvSpPr txBox="1"/>
          <p:nvPr/>
        </p:nvSpPr>
        <p:spPr>
          <a:xfrm>
            <a:off x="4892040" y="35478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6E8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Txn Amount by Branch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983480" y="3867912"/>
            <a:ext cx="1645920" cy="0"/>
          </a:xfrm>
          <a:prstGeom prst="line">
            <a:avLst/>
          </a:prstGeom>
          <a:noFill/>
          <a:ln w="9525">
            <a:solidFill>
              <a:srgbClr val="F4A61D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892040" y="391363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📐 SUM(Amount) grouped by Branch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4892040" y="420624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D6E8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Compares branch contribution. All 6 branches nearly equal share.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6995160" y="3017520"/>
            <a:ext cx="2011680" cy="1627632"/>
          </a:xfrm>
          <a:prstGeom prst="roundRect">
            <a:avLst>
              <a:gd name="adj" fmla="val 5618"/>
            </a:avLst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086600" y="31089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4A6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~16.7%</a:t>
            </a:r>
            <a:endParaRPr lang="en-US" sz="2000" dirty="0"/>
          </a:p>
        </p:txBody>
      </p:sp>
      <p:sp>
        <p:nvSpPr>
          <p:cNvPr id="49" name="Text 47"/>
          <p:cNvSpPr txBox="1"/>
          <p:nvPr/>
        </p:nvSpPr>
        <p:spPr>
          <a:xfrm>
            <a:off x="7086600" y="35478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6E8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Txn Volume by Bank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178040" y="3867912"/>
            <a:ext cx="1645920" cy="0"/>
          </a:xfrm>
          <a:prstGeom prst="line">
            <a:avLst/>
          </a:prstGeom>
          <a:noFill/>
          <a:ln w="9525">
            <a:solidFill>
              <a:srgbClr val="F4A61D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086600" y="391363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📐 SUM(Amount) per Bank ÷ Total × 100</a:t>
            </a:r>
            <a:endParaRPr lang="en-US" sz="800" dirty="0"/>
          </a:p>
        </p:txBody>
      </p:sp>
      <p:sp>
        <p:nvSpPr>
          <p:cNvPr id="52" name="Text 50"/>
          <p:cNvSpPr txBox="1"/>
          <p:nvPr/>
        </p:nvSpPr>
        <p:spPr>
          <a:xfrm>
            <a:off x="7086600" y="420624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D6E8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bank holds ~16.4–16.8% — well diversified across partners.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8229600" cy="731520"/>
          </a:xfrm>
          <a:prstGeom prst="roundRect">
            <a:avLst>
              <a:gd name="adj" fmla="val 12500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278892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  KPIs — Loan Dashboard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58368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A8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 1–9: Volume, Geography &amp; Demographics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2715768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6E8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84632" y="1490472"/>
            <a:ext cx="438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13258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 Loan Amount Funded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173736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 total value of loans disbursed. Tracks overall lending scale.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10128" y="1234440"/>
            <a:ext cx="2715768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6E8F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83280" y="1490472"/>
            <a:ext cx="438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🔢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858768" y="13258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 Loans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858768" y="173736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number of loans issued. 65.5K total across 2016–2020.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08776" y="1234440"/>
            <a:ext cx="2715768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6E8F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81928" y="1490472"/>
            <a:ext cx="438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757416" y="13258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 Collection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757416" y="173736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Reflects repayment performance including principal and interest.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11480" y="2496312"/>
            <a:ext cx="2715768" cy="1170432"/>
          </a:xfrm>
          <a:prstGeom prst="roundRect">
            <a:avLst>
              <a:gd name="adj" fmla="val 6250"/>
            </a:avLst>
          </a:prstGeom>
          <a:solidFill>
            <a:srgbClr val="D6E8FA"/>
          </a:solidFill>
          <a:ln w="12700">
            <a:solidFill>
              <a:srgbClr val="D6E8F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84632" y="2752344"/>
            <a:ext cx="438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60120" y="2587752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 Interest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60120" y="2999232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revenue earned from loan interest. ₹155.3M total.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310128" y="2496312"/>
            <a:ext cx="2715768" cy="1170432"/>
          </a:xfrm>
          <a:prstGeom prst="roundRect">
            <a:avLst>
              <a:gd name="adj" fmla="val 6250"/>
            </a:avLst>
          </a:prstGeom>
          <a:solidFill>
            <a:srgbClr val="D6E8FA"/>
          </a:solidFill>
          <a:ln w="12700">
            <a:solidFill>
              <a:srgbClr val="D6E8F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752344"/>
            <a:ext cx="438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🏢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3858768" y="2587752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Branch-Wise Performance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3858768" y="2999232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Analyzes revenue (interest, fees, total) by branch. Top: Mathura 2.1K.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208776" y="2496312"/>
            <a:ext cx="2715768" cy="1170432"/>
          </a:xfrm>
          <a:prstGeom prst="roundRect">
            <a:avLst>
              <a:gd name="adj" fmla="val 6250"/>
            </a:avLst>
          </a:prstGeom>
          <a:solidFill>
            <a:srgbClr val="D6E8FA"/>
          </a:solidFill>
          <a:ln w="12700">
            <a:solidFill>
              <a:srgbClr val="D6E8F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81928" y="2752344"/>
            <a:ext cx="438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🗺️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6757416" y="2587752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State-Wise Loan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757416" y="2999232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distribution. UP leads (12K), Punjab 2nd (10.2K).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11480" y="3758184"/>
            <a:ext cx="2715768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6E8F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84632" y="4014216"/>
            <a:ext cx="438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🕌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960120" y="3849624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Religion-Wise Loan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960120" y="4261104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Monitors loan distribution across demographics. Hindu 75.01%.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310128" y="3758184"/>
            <a:ext cx="2715768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6E8F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383280" y="4014216"/>
            <a:ext cx="438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</a:t>
            </a:r>
            <a:endParaRPr lang="en-US" sz="2000" dirty="0"/>
          </a:p>
        </p:txBody>
      </p:sp>
      <p:sp>
        <p:nvSpPr>
          <p:cNvPr id="35" name="Text 33"/>
          <p:cNvSpPr txBox="1"/>
          <p:nvPr/>
        </p:nvSpPr>
        <p:spPr>
          <a:xfrm>
            <a:off x="3858768" y="3849624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 Group-Wise Loan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3858768" y="4261104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Categorizes by product types. XLG dominates at 86.83%.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208776" y="3758184"/>
            <a:ext cx="2715768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6E8F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281928" y="4014216"/>
            <a:ext cx="438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</a:t>
            </a:r>
            <a:endParaRPr lang="en-US" sz="2000" dirty="0"/>
          </a:p>
        </p:txBody>
      </p:sp>
      <p:sp>
        <p:nvSpPr>
          <p:cNvPr id="39" name="Text 37"/>
          <p:cNvSpPr txBox="1"/>
          <p:nvPr/>
        </p:nvSpPr>
        <p:spPr>
          <a:xfrm>
            <a:off x="6757416" y="3849624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Disbursement Trend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6757416" y="4261104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changes in loan disbursements over time (2016–2020).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8229600" cy="731520"/>
          </a:xfrm>
          <a:prstGeom prst="roundRect">
            <a:avLst>
              <a:gd name="adj" fmla="val 12500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239151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  KPIs — Loan Dashboard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04088" y="672084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A8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 10–18: Risk, Status &amp; Verification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2715768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6E8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84632" y="1490472"/>
            <a:ext cx="438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🏅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13258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Grade-Wise Loan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173736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risk by borrower credit grades A–G. Grade B leads (26K).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10128" y="1234440"/>
            <a:ext cx="2715768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6E8F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83280" y="1490472"/>
            <a:ext cx="438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858768" y="13258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Default Loan Count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858768" y="173736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Loans in default. 1K defaults — default rate of 1.6%.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08776" y="1234440"/>
            <a:ext cx="2715768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6E8F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81928" y="1490472"/>
            <a:ext cx="438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757416" y="13258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Delinquent Client Count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757416" y="173736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Borrowers with missed payments. 7K delinquent clients tracked.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11480" y="2496312"/>
            <a:ext cx="2715768" cy="1170432"/>
          </a:xfrm>
          <a:prstGeom prst="roundRect">
            <a:avLst>
              <a:gd name="adj" fmla="val 6250"/>
            </a:avLst>
          </a:prstGeom>
          <a:solidFill>
            <a:srgbClr val="D6E8FA"/>
          </a:solidFill>
          <a:ln w="12700">
            <a:solidFill>
              <a:srgbClr val="D6E8F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84632" y="2752344"/>
            <a:ext cx="438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📉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60120" y="2587752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Delinquent Loan Rate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60120" y="2999232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Percentage of overdue loans in portfolio. Currently 10.8%.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310128" y="2496312"/>
            <a:ext cx="2715768" cy="1170432"/>
          </a:xfrm>
          <a:prstGeom prst="roundRect">
            <a:avLst>
              <a:gd name="adj" fmla="val 6250"/>
            </a:avLst>
          </a:prstGeom>
          <a:solidFill>
            <a:srgbClr val="D6E8FA"/>
          </a:solidFill>
          <a:ln w="12700">
            <a:solidFill>
              <a:srgbClr val="D6E8F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752344"/>
            <a:ext cx="438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3858768" y="2587752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Default Loan Rate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3858768" y="2999232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Proportion of defaulted loans to total. 1.6% — needs monitoring.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208776" y="2496312"/>
            <a:ext cx="2715768" cy="1170432"/>
          </a:xfrm>
          <a:prstGeom prst="roundRect">
            <a:avLst>
              <a:gd name="adj" fmla="val 6250"/>
            </a:avLst>
          </a:prstGeom>
          <a:solidFill>
            <a:srgbClr val="D6E8FA"/>
          </a:solidFill>
          <a:ln w="12700">
            <a:solidFill>
              <a:srgbClr val="D6E8F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81928" y="2752344"/>
            <a:ext cx="438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🔵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6757416" y="2587752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Loan Status-Wise Loan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757416" y="2999232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55.47% · Fully Paid 24.19% · Net-Off 9.54% · NPA 0.81%.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11480" y="3758184"/>
            <a:ext cx="2715768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6E8F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84632" y="4014216"/>
            <a:ext cx="438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960120" y="3849624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 Group-Wise Loan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960120" y="4261104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Categorizes by borrower age. 26–35 leads (23.6K), 36–45 next (20.6K).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310128" y="3758184"/>
            <a:ext cx="2715768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6E8F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383280" y="4014216"/>
            <a:ext cx="438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⏱️</a:t>
            </a:r>
            <a:endParaRPr lang="en-US" sz="2000" dirty="0"/>
          </a:p>
        </p:txBody>
      </p:sp>
      <p:sp>
        <p:nvSpPr>
          <p:cNvPr id="35" name="Text 33"/>
          <p:cNvSpPr txBox="1"/>
          <p:nvPr/>
        </p:nvSpPr>
        <p:spPr>
          <a:xfrm>
            <a:off x="3858768" y="3849624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Loan Maturity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3858768" y="4261104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timeline until full repayment. Used for duration risk analysis.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208776" y="3758184"/>
            <a:ext cx="2715768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6E8F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281928" y="4014216"/>
            <a:ext cx="438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🚫</a:t>
            </a:r>
            <a:endParaRPr lang="en-US" sz="2000" dirty="0"/>
          </a:p>
        </p:txBody>
      </p:sp>
      <p:sp>
        <p:nvSpPr>
          <p:cNvPr id="39" name="Text 37"/>
          <p:cNvSpPr txBox="1"/>
          <p:nvPr/>
        </p:nvSpPr>
        <p:spPr>
          <a:xfrm>
            <a:off x="6757416" y="3849624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Verified Loans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6757416" y="4261104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Identifies loans without proper verification. 25.8% — major risk flag.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8229600" cy="731520"/>
          </a:xfrm>
          <a:prstGeom prst="roundRect">
            <a:avLst>
              <a:gd name="adj" fmla="val 12500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  Process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649224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A8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raw data to insight — step by step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490472" y="1783080"/>
            <a:ext cx="566928" cy="0"/>
          </a:xfrm>
          <a:prstGeom prst="line">
            <a:avLst/>
          </a:prstGeom>
          <a:noFill/>
          <a:ln w="19050">
            <a:solidFill>
              <a:srgbClr val="1A6FC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417320"/>
            <a:ext cx="822960" cy="822960"/>
          </a:xfrm>
          <a:prstGeom prst="ellipse">
            <a:avLst/>
          </a:prstGeom>
          <a:solidFill>
            <a:srgbClr val="0D1B2A"/>
          </a:solidFill>
          <a:ln w="25400">
            <a:solidFill>
              <a:srgbClr val="F4A61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4173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4A6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47472" y="2468880"/>
            <a:ext cx="1572768" cy="233172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D6E8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8912" y="2542032"/>
            <a:ext cx="1389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Collection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8912" y="3063240"/>
            <a:ext cx="1389888" cy="256032"/>
          </a:xfrm>
          <a:prstGeom prst="roundRect">
            <a:avLst>
              <a:gd name="adj" fmla="val 35714"/>
            </a:avLst>
          </a:prstGeom>
          <a:solidFill>
            <a:srgbClr val="1A6FC4"/>
          </a:solidFill>
          <a:ln w="12700">
            <a:solidFill>
              <a:srgbClr val="1A6FC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912" y="3063240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438912" y="3383280"/>
            <a:ext cx="138988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Gathered raw transaction and loan records. Organized fields and removed duplicates in Excel.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0" y="1783080"/>
            <a:ext cx="566928" cy="0"/>
          </a:xfrm>
          <a:prstGeom prst="line">
            <a:avLst/>
          </a:prstGeom>
          <a:noFill/>
          <a:ln w="19050">
            <a:solidFill>
              <a:srgbClr val="1A6FC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395728" y="1417320"/>
            <a:ext cx="822960" cy="822960"/>
          </a:xfrm>
          <a:prstGeom prst="ellipse">
            <a:avLst/>
          </a:prstGeom>
          <a:solidFill>
            <a:srgbClr val="0D1B2A"/>
          </a:solidFill>
          <a:ln w="25400">
            <a:solidFill>
              <a:srgbClr val="F4A61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395728" y="14173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4A6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2057400" y="2468880"/>
            <a:ext cx="1572768" cy="233172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D6E8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148840" y="2542032"/>
            <a:ext cx="1389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Cleaning &amp;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Transformation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148840" y="3063240"/>
            <a:ext cx="1389888" cy="256032"/>
          </a:xfrm>
          <a:prstGeom prst="roundRect">
            <a:avLst>
              <a:gd name="adj" fmla="val 35714"/>
            </a:avLst>
          </a:prstGeom>
          <a:solidFill>
            <a:srgbClr val="1A6FC4"/>
          </a:solidFill>
          <a:ln w="12700">
            <a:solidFill>
              <a:srgbClr val="1A6F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148840" y="3063240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+ MySQL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2148840" y="3383280"/>
            <a:ext cx="138988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Handled nulls, standardized formats, and created calculated columns. SQL queries for aggregation.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910328" y="1783080"/>
            <a:ext cx="566928" cy="0"/>
          </a:xfrm>
          <a:prstGeom prst="line">
            <a:avLst/>
          </a:prstGeom>
          <a:noFill/>
          <a:ln w="19050">
            <a:solidFill>
              <a:srgbClr val="1A6FC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105656" y="1417320"/>
            <a:ext cx="822960" cy="822960"/>
          </a:xfrm>
          <a:prstGeom prst="ellipse">
            <a:avLst/>
          </a:prstGeom>
          <a:solidFill>
            <a:srgbClr val="0D1B2A"/>
          </a:solidFill>
          <a:ln w="25400">
            <a:solidFill>
              <a:srgbClr val="F4A61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105656" y="14173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4A6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3767328" y="2468880"/>
            <a:ext cx="1572768" cy="233172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D6E8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858768" y="2542032"/>
            <a:ext cx="1389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Modeling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858768" y="3063240"/>
            <a:ext cx="1389888" cy="256032"/>
          </a:xfrm>
          <a:prstGeom prst="roundRect">
            <a:avLst>
              <a:gd name="adj" fmla="val 35714"/>
            </a:avLst>
          </a:prstGeom>
          <a:solidFill>
            <a:srgbClr val="1A6FC4"/>
          </a:solidFill>
          <a:ln w="12700">
            <a:solidFill>
              <a:srgbClr val="1A6FC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858768" y="3063240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3858768" y="3383280"/>
            <a:ext cx="138988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star-schema relationships. Wrote DAX measures for ratios, running totals and KPIs.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620256" y="1783080"/>
            <a:ext cx="566928" cy="0"/>
          </a:xfrm>
          <a:prstGeom prst="line">
            <a:avLst/>
          </a:prstGeom>
          <a:noFill/>
          <a:ln w="19050">
            <a:solidFill>
              <a:srgbClr val="1A6FC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815584" y="1417320"/>
            <a:ext cx="822960" cy="822960"/>
          </a:xfrm>
          <a:prstGeom prst="ellipse">
            <a:avLst/>
          </a:prstGeom>
          <a:solidFill>
            <a:srgbClr val="0D1B2A"/>
          </a:solidFill>
          <a:ln w="25400">
            <a:solidFill>
              <a:srgbClr val="F4A61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815584" y="14173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4A6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477256" y="2468880"/>
            <a:ext cx="1572768" cy="233172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D6E8F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568696" y="2542032"/>
            <a:ext cx="1389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Visualization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568696" y="3063240"/>
            <a:ext cx="1389888" cy="256032"/>
          </a:xfrm>
          <a:prstGeom prst="roundRect">
            <a:avLst>
              <a:gd name="adj" fmla="val 35714"/>
            </a:avLst>
          </a:prstGeom>
          <a:solidFill>
            <a:srgbClr val="1A6FC4"/>
          </a:solidFill>
          <a:ln w="12700">
            <a:solidFill>
              <a:srgbClr val="1A6FC4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568696" y="3063240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+ Tableau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5568696" y="3383280"/>
            <a:ext cx="138988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interactive dashboards with bar, donut and area charts. Added slicers for dynamic filtering.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525512" y="1417320"/>
            <a:ext cx="822960" cy="822960"/>
          </a:xfrm>
          <a:prstGeom prst="ellipse">
            <a:avLst/>
          </a:prstGeom>
          <a:solidFill>
            <a:srgbClr val="0D1B2A"/>
          </a:solidFill>
          <a:ln w="25400">
            <a:solidFill>
              <a:srgbClr val="F4A61D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525512" y="14173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4A6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7187184" y="2468880"/>
            <a:ext cx="1572768" cy="233172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D6E8FA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278624" y="2542032"/>
            <a:ext cx="1389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Insights &amp;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Recommendations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7278624" y="3063240"/>
            <a:ext cx="1389888" cy="256032"/>
          </a:xfrm>
          <a:prstGeom prst="roundRect">
            <a:avLst>
              <a:gd name="adj" fmla="val 35714"/>
            </a:avLst>
          </a:prstGeom>
          <a:solidFill>
            <a:srgbClr val="1A6FC4"/>
          </a:solidFill>
          <a:ln w="12700">
            <a:solidFill>
              <a:srgbClr val="1A6FC4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278624" y="3063240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tools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7278624" y="3383280"/>
            <a:ext cx="138988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Interpreted patterns, flagged risks and generated business recommendations from the final dashboards.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8229600" cy="731520"/>
          </a:xfrm>
          <a:prstGeom prst="roundRect">
            <a:avLst>
              <a:gd name="adj" fmla="val 12500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  Analysis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94944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A8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 from both dashboards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4023360" cy="3611880"/>
          </a:xfrm>
          <a:prstGeom prst="roundRect">
            <a:avLst>
              <a:gd name="adj" fmla="val 3038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3258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4A6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💳  DEBIT &amp; CREDIT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8013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Positive cash flow of ₹318.12K across 2024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29514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6E8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All 6 branches nearly balanced (₹41.7M–₹42.9M)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78892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🏦  6 banks each hold ~16.4–16.8% of total volume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28269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6E8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 Monthly transactions steady ~9K; Dec drops to 0.3K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77647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 Kotak leads (16.8%), HDFC lowest (16.43%)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27024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6E8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 Credit-to-debit ratio 1.0025 — healthy but thin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1234440"/>
            <a:ext cx="4023360" cy="3611880"/>
          </a:xfrm>
          <a:prstGeom prst="roundRect">
            <a:avLst>
              <a:gd name="adj" fmla="val 3038"/>
            </a:avLst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46320" y="13258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4A6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🏦  LOAN PORTFOLIO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18013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 Uttar Pradesh leads with 12K funded loans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229514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6E8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  Age 26–35 is largest borrower group (23.6K)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846320" y="278892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🟡  XLG product dominates at 86.83% of loans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328269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6E8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25.8% loans unverified — key risk flag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846320" y="377647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📉  1.6% default, 10.8% delinquent — gap needs action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846320" y="427024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6E8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55.47% active, 24.19% fully paid — growing base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8229600" cy="731520"/>
          </a:xfrm>
          <a:prstGeom prst="roundRect">
            <a:avLst>
              <a:gd name="adj" fmla="val 12500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  Recommendations &amp; Insights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85800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A8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data into decisions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269748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6E8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141732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Verify Unverified Loans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1874520"/>
            <a:ext cx="2423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25.8% of loans are unverified. Implement mandatory KYC checks before disbursement to cut default exposure.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55848" y="1280160"/>
            <a:ext cx="269748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6E8F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93008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📞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3950208" y="141732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Early Collection Strategy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493008" y="1874520"/>
            <a:ext cx="2423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Delinquency (10.8%) far exceeds default (1.6%). Launch early-warning calls 30 days before due dates.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54496" y="1280160"/>
            <a:ext cx="269748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6E8F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1656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💹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848856" y="141732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Strengthen Cash Buffer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391656" y="1874520"/>
            <a:ext cx="2423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Credit-to-debit ratio is only 1.0025. Build a 3–5% buffer reserve to absorb seasonal demand shocks.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971800"/>
            <a:ext cx="269748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6E8F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94360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🗺️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1051560" y="310896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Expand in Low-Loan States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94360" y="3566160"/>
            <a:ext cx="2423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States like Himachal Pradesh, Jharkhand and Tripura are under-served. Target them for next growth cycle.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355848" y="2971800"/>
            <a:ext cx="269748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6E8F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493008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3950208" y="310896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Diversify Product Mix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3493008" y="3566160"/>
            <a:ext cx="2423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XLG holds 86.83% of loans. Promoting XL and XTL reduces concentration risk and grows revenue streams.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254496" y="2971800"/>
            <a:ext cx="269748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6E8F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391656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6848856" y="310896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Replicate Branch Success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391656" y="3566160"/>
            <a:ext cx="2423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 Center and Main Branch lead in volume. Share their best practices with lower-performing branches.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731520"/>
            <a:ext cx="3200400" cy="3200400"/>
          </a:xfrm>
          <a:prstGeom prst="ellipse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004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4A61D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07  Conclusion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804672"/>
            <a:ext cx="6858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proved with data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1481328"/>
            <a:ext cx="4114800" cy="0"/>
          </a:xfrm>
          <a:prstGeom prst="line">
            <a:avLst/>
          </a:prstGeom>
          <a:noFill/>
          <a:ln w="19050">
            <a:solidFill>
              <a:srgbClr val="F4A61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69164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Bank maintains positive cash flow with a balanced credit-debit ratio across all 6 branches and banks.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41448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 Collections (₹808.3M) comfortably exceed funded loans (₹751M), confirming portfolio health.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191256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D6E8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Verification gaps (25.8%) and high delinquency (10.8%) are the top risks requiring immediate action.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41064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D6E8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🛠️  Excel, MySQL, Power BI and Tableau together delivered end-to-end analytics in a single workflow.</a:t>
            </a:r>
            <a:endParaRPr lang="en-US" sz="15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4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8229600" cy="731520"/>
          </a:xfrm>
          <a:prstGeom prst="roundRect">
            <a:avLst>
              <a:gd name="adj" fmla="val 12500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  Challenges &amp; Learnings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72084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A8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Obstacles overcome — skills gained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4160520" cy="292608"/>
          </a:xfrm>
          <a:prstGeom prst="roundRect">
            <a:avLst>
              <a:gd name="adj" fmla="val 18750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234440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64208"/>
            <a:ext cx="416052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6E8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773936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🧹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17190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Dirty Data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2002536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8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 date formats, nulls and duplicate records needed 3+ hours of Excel cleaning before analysis.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2468880"/>
            <a:ext cx="416052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6E8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578608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252374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 Integration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280720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8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Syncing data across MySQL, Excel, Power BI and Tableau without format loss required careful planning.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273552"/>
            <a:ext cx="416052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6E8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38328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📉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332841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Incomplete Dec Data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36118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8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December showed near-zero transactions — flagged early and documented as a data gap, not a real trend.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4078224"/>
            <a:ext cx="416052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6E8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187952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🧮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413308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Complex DAX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05840" y="441655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8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accurate running totals, ratio measures and time-intelligence functions in Power BI was the steepest curve.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92040" y="1234440"/>
            <a:ext cx="4160520" cy="292608"/>
          </a:xfrm>
          <a:prstGeom prst="roundRect">
            <a:avLst>
              <a:gd name="adj" fmla="val 18750"/>
            </a:avLst>
          </a:prstGeom>
          <a:solidFill>
            <a:srgbClr val="1A6FC4"/>
          </a:solidFill>
          <a:ln w="12700">
            <a:solidFill>
              <a:srgbClr val="1A6FC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892040" y="1234440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892040" y="1664208"/>
            <a:ext cx="416052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6E8F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983480" y="1773936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5440680" y="17190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SQL Efficiency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440680" y="2002536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8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optimized GROUP BY and JOIN queries in MySQL to pre-aggregate millions of rows before loading into Power BI.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92040" y="2468880"/>
            <a:ext cx="416052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6E8F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983480" y="2578608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🎨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5440680" y="252374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 Design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440680" y="280720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8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the right chart for each KPI — donut for composition, area for trend, bar for comparison.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892040" y="3273552"/>
            <a:ext cx="416052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6E8F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983480" y="338328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📐</a:t>
            </a:r>
            <a:endParaRPr lang="en-US" sz="2000" dirty="0"/>
          </a:p>
        </p:txBody>
      </p:sp>
      <p:sp>
        <p:nvSpPr>
          <p:cNvPr id="35" name="Text 33"/>
          <p:cNvSpPr txBox="1"/>
          <p:nvPr/>
        </p:nvSpPr>
        <p:spPr>
          <a:xfrm>
            <a:off x="5440680" y="332841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DAX Mastery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440680" y="36118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8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CALCULATE, DIVIDE and time-intelligence functions are now instinctive after building this project end to end.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92040" y="4078224"/>
            <a:ext cx="416052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6E8F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983480" y="4187952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</a:t>
            </a:r>
            <a:endParaRPr lang="en-US" sz="2000" dirty="0"/>
          </a:p>
        </p:txBody>
      </p:sp>
      <p:sp>
        <p:nvSpPr>
          <p:cNvPr id="39" name="Text 37"/>
          <p:cNvSpPr txBox="1"/>
          <p:nvPr/>
        </p:nvSpPr>
        <p:spPr>
          <a:xfrm>
            <a:off x="5440680" y="413308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Storytelling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5440680" y="441655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8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visual must answer one clear question. Tableau helped simplify charts that Power BI made complex.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  Dashboard / Report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6E8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in Power BI </a:t>
            </a:r>
            <a:endParaRPr lang="en-US" sz="1300" dirty="0"/>
          </a:p>
        </p:txBody>
      </p:sp>
      <p:pic>
        <p:nvPicPr>
          <p:cNvPr id="4" name="Image 0" descr="/mnt/user-data/uploads/credit_Dashboard_Power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051560"/>
            <a:ext cx="4160520" cy="2331720"/>
          </a:xfrm>
          <a:prstGeom prst="rect">
            <a:avLst/>
          </a:prstGeom>
        </p:spPr>
      </p:pic>
      <p:pic>
        <p:nvPicPr>
          <p:cNvPr id="5" name="Image 1" descr="/mnt/user-data/uploads/Loan_Dashboard_Powerb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7720" y="1051560"/>
            <a:ext cx="4160520" cy="23317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365760" y="3465576"/>
            <a:ext cx="4160520" cy="329184"/>
          </a:xfrm>
          <a:prstGeom prst="roundRect">
            <a:avLst>
              <a:gd name="adj" fmla="val 16667"/>
            </a:avLst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365760" y="3465576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4A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Debit &amp; Credit Dashboard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4617720" y="3465576"/>
            <a:ext cx="4160520" cy="329184"/>
          </a:xfrm>
          <a:prstGeom prst="roundRect">
            <a:avLst>
              <a:gd name="adj" fmla="val 16667"/>
            </a:avLst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4617720" y="3465576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4A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Loan Dashboard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4116A9-9553-5335-58BE-AA97FFBD0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431160C0-803B-ADAF-2D95-7E3D5770FFD9}"/>
              </a:ext>
            </a:extLst>
          </p:cNvPr>
          <p:cNvSpPr txBox="1"/>
          <p:nvPr/>
        </p:nvSpPr>
        <p:spPr>
          <a:xfrm>
            <a:off x="382460" y="134347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D6E8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in Tableau</a:t>
            </a:r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2B060614-2002-CDAE-F3CC-3306653887A9}"/>
              </a:ext>
            </a:extLst>
          </p:cNvPr>
          <p:cNvSpPr/>
          <p:nvPr/>
        </p:nvSpPr>
        <p:spPr>
          <a:xfrm>
            <a:off x="365760" y="3465576"/>
            <a:ext cx="4160520" cy="329184"/>
          </a:xfrm>
          <a:prstGeom prst="roundRect">
            <a:avLst>
              <a:gd name="adj" fmla="val 16667"/>
            </a:avLst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677F2685-A114-45EE-B452-0BFEB0DB8F83}"/>
              </a:ext>
            </a:extLst>
          </p:cNvPr>
          <p:cNvSpPr txBox="1"/>
          <p:nvPr/>
        </p:nvSpPr>
        <p:spPr>
          <a:xfrm>
            <a:off x="365760" y="3465576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4A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Debit &amp; Credit Dashboard</a:t>
            </a:r>
            <a:endParaRPr lang="en-US" sz="1300" dirty="0"/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3999B9A8-5E9E-57B2-14E0-6E2FDB5DC947}"/>
              </a:ext>
            </a:extLst>
          </p:cNvPr>
          <p:cNvSpPr/>
          <p:nvPr/>
        </p:nvSpPr>
        <p:spPr>
          <a:xfrm>
            <a:off x="4617720" y="3465576"/>
            <a:ext cx="4160520" cy="329184"/>
          </a:xfrm>
          <a:prstGeom prst="roundRect">
            <a:avLst>
              <a:gd name="adj" fmla="val 16667"/>
            </a:avLst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8E750DC0-6CE1-869C-AE79-DF78AD2112E7}"/>
              </a:ext>
            </a:extLst>
          </p:cNvPr>
          <p:cNvSpPr txBox="1"/>
          <p:nvPr/>
        </p:nvSpPr>
        <p:spPr>
          <a:xfrm>
            <a:off x="4617720" y="3465576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4A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Loan Dashboard</a:t>
            </a:r>
            <a:endParaRPr lang="en-US" sz="13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87B2AE4-FE96-4180-1299-CB85176EEE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460" y="527539"/>
            <a:ext cx="4143819" cy="2864378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AB61767-04B2-96D1-BB83-6EDEBE72FF9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598" t="5476" r="4385" b="6367"/>
          <a:stretch>
            <a:fillRect/>
          </a:stretch>
        </p:blipFill>
        <p:spPr>
          <a:xfrm>
            <a:off x="4617720" y="504932"/>
            <a:ext cx="4160520" cy="2864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617147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710DC4-04B6-B3BC-6A1E-D81C61682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056FFE65-B8BA-1AFB-FCCC-4C2CAE4CFF22}"/>
              </a:ext>
            </a:extLst>
          </p:cNvPr>
          <p:cNvSpPr txBox="1"/>
          <p:nvPr/>
        </p:nvSpPr>
        <p:spPr>
          <a:xfrm>
            <a:off x="365760" y="294463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D6E8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in Excel</a:t>
            </a:r>
            <a:endParaRPr lang="en-US" dirty="0"/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F8F249AF-010E-C168-9944-EDABB8F1143D}"/>
              </a:ext>
            </a:extLst>
          </p:cNvPr>
          <p:cNvSpPr/>
          <p:nvPr/>
        </p:nvSpPr>
        <p:spPr>
          <a:xfrm>
            <a:off x="365760" y="3465576"/>
            <a:ext cx="4160520" cy="329184"/>
          </a:xfrm>
          <a:prstGeom prst="roundRect">
            <a:avLst>
              <a:gd name="adj" fmla="val 16667"/>
            </a:avLst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888901CF-5EA7-3A06-0B9C-1ED6B630D6CC}"/>
              </a:ext>
            </a:extLst>
          </p:cNvPr>
          <p:cNvSpPr txBox="1"/>
          <p:nvPr/>
        </p:nvSpPr>
        <p:spPr>
          <a:xfrm>
            <a:off x="365760" y="3465576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4A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Debit &amp; Credit Dashboard</a:t>
            </a:r>
            <a:endParaRPr lang="en-US" sz="1300" dirty="0"/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DFBB41D6-C62B-E931-2133-CC68F99FA32D}"/>
              </a:ext>
            </a:extLst>
          </p:cNvPr>
          <p:cNvSpPr/>
          <p:nvPr/>
        </p:nvSpPr>
        <p:spPr>
          <a:xfrm>
            <a:off x="4617720" y="3465576"/>
            <a:ext cx="4160520" cy="329184"/>
          </a:xfrm>
          <a:prstGeom prst="roundRect">
            <a:avLst>
              <a:gd name="adj" fmla="val 16667"/>
            </a:avLst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40D9E15E-9DA9-BD3A-79B5-0A5F27E898A8}"/>
              </a:ext>
            </a:extLst>
          </p:cNvPr>
          <p:cNvSpPr txBox="1"/>
          <p:nvPr/>
        </p:nvSpPr>
        <p:spPr>
          <a:xfrm>
            <a:off x="4617720" y="3465576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4A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Loan Dashboard</a:t>
            </a:r>
            <a:endParaRPr lang="en-US" sz="13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D342A38-5600-467E-0947-7290C7A55F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098" y="689317"/>
            <a:ext cx="4090181" cy="272633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419491C-A8D5-644A-EE11-F7EEEACB2F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7720" y="665579"/>
            <a:ext cx="4090181" cy="2726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442708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1543</Words>
  <Application>Microsoft Office PowerPoint</Application>
  <PresentationFormat>On-screen Show (16:9)</PresentationFormat>
  <Paragraphs>257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Cambria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Pinapaka Omkar</cp:lastModifiedBy>
  <cp:revision>4</cp:revision>
  <dcterms:created xsi:type="dcterms:W3CDTF">2026-10-01T10:38:17Z</dcterms:created>
  <dcterms:modified xsi:type="dcterms:W3CDTF">2026-10-01T10:57:49Z</dcterms:modified>
</cp:coreProperties>
</file>