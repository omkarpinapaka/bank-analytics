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369"/>
    <a:srgbClr val="2449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21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name, date, and institution.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1F9E-4D37-74B4-F712-743110E8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361E2-8E9B-C628-9636-52F42B589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D30D8-88D6-25C6-FC44-4B8607652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8379A-D7D8-B1FE-FB25-815F64A5D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88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F5CC-FCBD-A0A7-4026-1C453FA2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B6028-C2BD-9C57-2C43-E90539C44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52D15-931C-D9FB-41C9-5A152FA6F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B4802-C61A-19F8-5DB8-4C80A7F8E3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57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41403"/>
            <a:ext cx="6858000" cy="205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ANALYTICS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6931"/>
            <a:ext cx="6858000" cy="1124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PROJECT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39" y="2841559"/>
            <a:ext cx="67976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</a:t>
            </a:r>
            <a:r>
              <a:rPr lang="en-US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</a:t>
            </a:r>
            <a:r>
              <a:rPr lang="en-US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Loan Performance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2240" y="3934663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7940" y="394655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3937349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1" y="4092854"/>
            <a:ext cx="1463040" cy="11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/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3935577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6298" y="4081853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15077" y="3920947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3755" y="391557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8289" y="3611880"/>
            <a:ext cx="5943600" cy="0"/>
          </a:xfrm>
          <a:prstGeom prst="line">
            <a:avLst/>
          </a:prstGeom>
          <a:noFill/>
          <a:ln w="19050">
            <a:solidFill>
              <a:srgbClr val="F4A61D"/>
            </a:solidFill>
            <a:prstDash val="solid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140E8D-F157-4C29-987A-210CF7E1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52" y="241403"/>
            <a:ext cx="3433495" cy="299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684393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 and why behind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75488" cy="475488"/>
          </a:xfrm>
          <a:prstGeom prst="ellipse">
            <a:avLst/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27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full-cycle bank analytics project built on real transactional and lending data — cleaned, modeled, and visualized into two live dashboards.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475488" cy="475488"/>
          </a:xfrm>
          <a:prstGeom prst="ellipse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249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process millions of transactions daily. Without analytics, risk hides in the noise. This project makes that risk visible and actionable.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build?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410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Debit &amp; Credit dashboard tracking cash flow across branches and banks, and a Loan dashboard monitoring 65.5K loans for defaults and growth trends.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0" dirty="0"/>
          </a:p>
        </p:txBody>
      </p:sp>
      <p:sp>
        <p:nvSpPr>
          <p:cNvPr id="20" name="Shape 18"/>
          <p:cNvSpPr/>
          <p:nvPr/>
        </p:nvSpPr>
        <p:spPr>
          <a:xfrm>
            <a:off x="5232197" y="4416552"/>
            <a:ext cx="3068726" cy="0"/>
          </a:xfrm>
          <a:prstGeom prst="line">
            <a:avLst/>
          </a:prstGeom>
          <a:noFill/>
          <a:ln w="19050">
            <a:solidFill>
              <a:srgbClr val="F4A61D"/>
            </a:solidFill>
            <a:prstDash val="solid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11B0AC0-7256-43B9-A65E-35A2C3322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47139"/>
            <a:ext cx="3474720" cy="2857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75601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datasets, thousands of records, one 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Banks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75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· HDFC · ICICI · Kotak · PNB · SBI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1234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15184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Branches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075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· Main · East · Downtown · Suburban · North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234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075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monthly transaction 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31152" y="12344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1152" y="1298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737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65.5K Loans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22592" y="2075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2020 · 17 Indian states covered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9443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Debit &amp; Credit Dataset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46704"/>
            <a:ext cx="3794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method: bank transfer, credit card, debit card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date, amount, branch, bank, account 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Excel · queried in MySQL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in Power BI with DAX measures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88036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29443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Dataset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346704"/>
            <a:ext cx="3794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Borrower: state, age group, religion, grade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 product code, funded amount, status, interest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and aggregated in MySQL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Dashboarded in Power BI and Tableau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KPIs — Debit &amp; Credit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and business insights behind each 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₹127.6M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Amount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SUM(Amount) WHERE Type = "Credit"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deposits — compared against debits for cash flow health.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₹127.29M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 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08483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SUM(Amount) WHERE Type = "Debit"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withdrawals — tracks outflow across all branches.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123444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1.0025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to Debit Ratio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08483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Total Credit ÷ Total Debit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&gt; 1 = bank receives more than it pays. Positive signal.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23444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318.12K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Transaction Amount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08483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Total Credit − Total Debit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flow for the period. Positive = healthy reserve building.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01752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0.000190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Activity Ratio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386791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No. of Transactions ÷ Account Balance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active customers are relative to their balances.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06040" y="301752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9748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~9K/mo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269748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Month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88920" y="386791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9748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COUNT(Transactions) grouped by Month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269748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high/low activity periods. Dec dropped sharply to 0.3K.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301752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9204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₹42M avg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Amount by Branch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386791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9204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SUM(Amount) grouped by Branch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branch contribution. All 6 branches nearly equal share.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95160" y="3017520"/>
            <a:ext cx="2011680" cy="1627632"/>
          </a:xfrm>
          <a:prstGeom prst="roundRect">
            <a:avLst>
              <a:gd name="adj" fmla="val 561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866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~16.7%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70866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Volume by Bank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78040" y="3867912"/>
            <a:ext cx="1645920" cy="0"/>
          </a:xfrm>
          <a:prstGeom prst="line">
            <a:avLst/>
          </a:prstGeom>
          <a:noFill/>
          <a:ln w="9525">
            <a:solidFill>
              <a:srgbClr val="F4A61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8660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SUM(Amount) per Bank ÷ Total × 100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08660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bank holds ~16.4–16.8% — well diversified across partners.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88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KPIs — Loan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1–9: Volume, Geography &amp; Demographics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Loan Amount Funded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total value of loans disbursed. Tracks overall lending scale.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Loans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number of loans issued. 65.5K total across 2016–2020.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57416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Collection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57416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repayment performance including principal and interest.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Interest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revenue earned from loan interest. ₹155.3M total.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858768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Branch-Wise Performance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revenue (interest, fees, total) by branch. Top: Mathura 2.1K.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81928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757416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State-Wise Loan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57416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distribution. UP leads (12K), Punjab 2nd (10.2K).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Religion-Wise Loan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loan distribution across demographics. Hindu 75.01%.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858768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Group-Wise Loan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58768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by product types. XLG dominates at 86.83%.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757416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Disbursement Trend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757416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in loan disbursements over time (2016–2020).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9151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KPIs — Loan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6720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10–18: Risk, Status &amp;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Grade-Wise Loan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by borrower credit grades A–G. Grade B leads (26K).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Loan Count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in default. 1K defaults — default rate of 1.6%.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234440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149047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57416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Delinquent Client Count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57416" y="17373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with missed payments. 7K delinquent clients tracked.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Delinquent Loan Rate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overdue loans in portfolio. Currently 10.8%.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858768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Loan Rate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defaulted loans to total. 1.6% — needs monitoring.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2496312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81928" y="275234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757416" y="2587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Status-Wise Loan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57416" y="29992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55.47% · Fully Paid 24.19% · Net-Off 9.54% · NPA 0.81%.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Group-Wise Loan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by borrower age. 26–35 leads (23.6K), 36–45 next (20.6K).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858768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Maturity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58768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timeline until full repayment. Used for duration risk analysis.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3758184"/>
            <a:ext cx="2715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81928" y="40142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757416" y="3849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Verified Loans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757416" y="426110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loans without proper verification. 25.8% — major risk flag.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Process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922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 — step by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90472" y="1783080"/>
            <a:ext cx="822958" cy="0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4A6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2468880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" y="25420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3063240"/>
            <a:ext cx="1389888" cy="256032"/>
          </a:xfrm>
          <a:prstGeom prst="roundRect">
            <a:avLst>
              <a:gd name="adj" fmla="val 3571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338328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raw transaction and loan records. Organized fields and removed duplicates in Excel.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399" y="1783080"/>
            <a:ext cx="822959" cy="0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41732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95728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57400" y="2468880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48840" y="25420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3063240"/>
            <a:ext cx="1389888" cy="256032"/>
          </a:xfrm>
          <a:prstGeom prst="roundRect">
            <a:avLst>
              <a:gd name="adj" fmla="val 3571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MySQL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338328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nulls, standardized formats, and created calculated columns. SQL queries for aggregation.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0328" y="1783080"/>
            <a:ext cx="822960" cy="0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5656" y="141732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4A6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05656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67328" y="2468880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58768" y="254203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58768" y="3063240"/>
            <a:ext cx="1389888" cy="256032"/>
          </a:xfrm>
          <a:prstGeom prst="roundRect">
            <a:avLst>
              <a:gd name="adj" fmla="val 3571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58768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858768" y="338328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star-schema relationships. Wrote DAX measures for ratios, running totals and KPIs.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0256" y="1783080"/>
            <a:ext cx="822960" cy="0"/>
          </a:xfrm>
          <a:prstGeom prst="line">
            <a:avLst/>
          </a:prstGeom>
          <a:noFill/>
          <a:ln w="19050">
            <a:solidFill>
              <a:srgbClr val="1A6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5584" y="141732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4A61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15584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77256" y="2468880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13170" y="2542032"/>
            <a:ext cx="1245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68696" y="3063240"/>
            <a:ext cx="1389888" cy="256032"/>
          </a:xfrm>
          <a:prstGeom prst="roundRect">
            <a:avLst>
              <a:gd name="adj" fmla="val 3571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68696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Tableau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568696" y="338328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interactive dashboards with bar, donut and area charts. Added slicers for dynamic filtering.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25512" y="141732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4A61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2551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87184" y="2468880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78624" y="25420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78624" y="3063240"/>
            <a:ext cx="1389888" cy="256032"/>
          </a:xfrm>
          <a:prstGeom prst="roundRect">
            <a:avLst>
              <a:gd name="adj" fmla="val 35714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78624" y="3063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78624" y="3383280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patterns, flagged risks and generated business recommendations from the final dashboards.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Analysis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949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both dashboards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214369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365760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💳  DEBIT &amp; CREDIT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13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 cash flow of ₹318.12K across 2024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951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All 6 branches nearly balanced (₹41.7M–₹42.9M)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6 banks each hold ~16.4–16.8% of total volume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826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Monthly transactions steady ~9K; Dec drops to 0.3K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764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Kotak leads (16.8%), HDFC lowest (16.43%)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70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Credit-to-debit ratio 1.0025 — healthy but thin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611880"/>
          </a:xfrm>
          <a:prstGeom prst="roundRect">
            <a:avLst>
              <a:gd name="adj" fmla="val 3038"/>
            </a:avLst>
          </a:prstGeom>
          <a:solidFill>
            <a:srgbClr val="214369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25880"/>
            <a:ext cx="365760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🏦  LOAN PORTFOLIO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013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Uttar Pradesh leads with 12K funded loans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951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Age 26–35 is largest borrower group (23.6K)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7889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XLG product dominates at 86.83% of loans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8269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25.8% loans unverified — key risk flag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764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1.6% default, 10.8% delinquent — gap needs action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270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55.47% active, 24.19% fully paid — growing base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Recommendations &amp; Insights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Unverified Loans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 of loans are unverified. Better verification before loan approval can help reduce risk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2801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Collection Strategy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87452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(10.8%) far exceeds default (1.6%). Launch early-warning calls 30 days before due dates.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28016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165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Cash Buffer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187452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Credit-to-debit ratio is only 1.0025. Build a 3–5% buffer reserve to absorb seasonal demand shocks.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in Low-Loan States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5661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like Himachal Pradesh, Jharkhand and Tripura are under-served. Target them for next growth cycle.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29718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9300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Product Mix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93008" y="35661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XLG holds 86.83% of loans. Promoting XL and XTL reduces concentration risk and grows revenue streams.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297180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9165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Branch Success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91656" y="356616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and Main Branch lead in volume. Share their best practices with lower-performing branches.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61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 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 with data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114800" cy="0"/>
          </a:xfrm>
          <a:prstGeom prst="line">
            <a:avLst/>
          </a:prstGeom>
          <a:noFill/>
          <a:ln w="19050">
            <a:solidFill>
              <a:srgbClr val="F4A6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Bank maintains positive cash flow with a balanced credit-debit ratio across all 6 branches and banks.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4144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Collections (₹808.3M) comfortably exceed funded loans (₹751M), confirming portfolio health.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912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Verification gaps (25.8%) and high delinquency (10.8%) are the top risks requiring immediate action.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Excel, MySQL, Power BI and Tableau together delivered end-to-end analytics in a single workflow.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Challenges &amp; Learnings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720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overcome — skills gained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292608"/>
          </a:xfrm>
          <a:prstGeom prst="roundRect">
            <a:avLst>
              <a:gd name="adj" fmla="val 1875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0609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739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Dirty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02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formats, nulls and duplicate records needed 3+ hours of Excel cleaning before analysis.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786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Integration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 data across MySQL, Excel, Power BI and Tableau without format loss required careful planning.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83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Dec Data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showed near-zero transactions — flagged early and documented as a data gap, not a real trend.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879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DAX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416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accurate running totals, ratio measures and time-intelligence functions in Power BI was the steepest curve.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1234440"/>
            <a:ext cx="4160520" cy="292608"/>
          </a:xfrm>
          <a:prstGeom prst="roundRect">
            <a:avLst>
              <a:gd name="adj" fmla="val 18750"/>
            </a:avLst>
          </a:prstGeom>
          <a:solidFill>
            <a:srgbClr val="1A6FC4"/>
          </a:solidFill>
          <a:ln w="12700">
            <a:solidFill>
              <a:srgbClr val="1A6F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1234440"/>
            <a:ext cx="4160520" cy="29260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1664208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17739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Efficiency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20025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optimized GROUP BY and JOIN queries in MySQL to pre-aggregate millions of rows before loading into Power BI.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46888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25786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 for each KPI — donut for composition, area for trend, bar for comparison.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273552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83480" y="3383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Mastery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DIVIDE and time-intelligence functions are now instinctive after building this project end to end.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4078224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83480" y="41879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44068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40680" y="4416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must answer one clear question. Tableau helped simplify charts that Power BI made complex.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Dashboard / Report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D6E8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in Power BI 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mnt/user-data/uploads/credit_Dashboard_Power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33856"/>
            <a:ext cx="4160520" cy="2626156"/>
          </a:xfrm>
          <a:prstGeom prst="rect">
            <a:avLst/>
          </a:prstGeom>
        </p:spPr>
      </p:pic>
      <p:pic>
        <p:nvPicPr>
          <p:cNvPr id="5" name="Image 1" descr="/mnt/user-data/uploads/Loan_Dashboard_Power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133856"/>
            <a:ext cx="4160520" cy="26261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3877056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11480" y="38770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&amp; Credit Dashboard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668926" y="3877056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8926" y="387705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Dashboard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116A9-9553-5335-58BE-AA97FFBD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31160C0-803B-ADAF-2D95-7E3D5770FFD9}"/>
              </a:ext>
            </a:extLst>
          </p:cNvPr>
          <p:cNvSpPr txBox="1"/>
          <p:nvPr/>
        </p:nvSpPr>
        <p:spPr>
          <a:xfrm>
            <a:off x="382460" y="13434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D6E8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in Tableau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B060614-2002-CDAE-F3CC-3306653887A9}"/>
              </a:ext>
            </a:extLst>
          </p:cNvPr>
          <p:cNvSpPr/>
          <p:nvPr/>
        </p:nvSpPr>
        <p:spPr>
          <a:xfrm>
            <a:off x="396970" y="3883894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7F2685-A114-45EE-B452-0BFEB0DB8F83}"/>
              </a:ext>
            </a:extLst>
          </p:cNvPr>
          <p:cNvSpPr txBox="1"/>
          <p:nvPr/>
        </p:nvSpPr>
        <p:spPr>
          <a:xfrm>
            <a:off x="411480" y="3867619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&amp; Credit Dashboard</a:t>
            </a:r>
            <a:endParaRPr lang="en-US" sz="13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999B9A8-5E9E-57B2-14E0-6E2FDB5DC947}"/>
              </a:ext>
            </a:extLst>
          </p:cNvPr>
          <p:cNvSpPr/>
          <p:nvPr/>
        </p:nvSpPr>
        <p:spPr>
          <a:xfrm>
            <a:off x="4617721" y="3883894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E750DC0-6CE1-869C-AE79-DF78AD2112E7}"/>
              </a:ext>
            </a:extLst>
          </p:cNvPr>
          <p:cNvSpPr txBox="1"/>
          <p:nvPr/>
        </p:nvSpPr>
        <p:spPr>
          <a:xfrm>
            <a:off x="4737296" y="388389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Dashboard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7B2AE4-FE96-4180-1299-CB85176EE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70" y="930422"/>
            <a:ext cx="4143819" cy="28643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B61767-04B2-96D1-BB83-6EDEBE72FF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98" t="5476" r="4385" b="6367"/>
          <a:stretch>
            <a:fillRect/>
          </a:stretch>
        </p:blipFill>
        <p:spPr>
          <a:xfrm>
            <a:off x="4617721" y="930422"/>
            <a:ext cx="4160520" cy="28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7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10DC4-04B6-B3BC-6A1E-D81C6168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56FFE65-B8BA-1AFB-FCCC-4C2CAE4CFF22}"/>
              </a:ext>
            </a:extLst>
          </p:cNvPr>
          <p:cNvSpPr txBox="1"/>
          <p:nvPr/>
        </p:nvSpPr>
        <p:spPr>
          <a:xfrm>
            <a:off x="365760" y="29446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D6E8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in Excel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8F249AF-010E-C168-9944-EDABB8F1143D}"/>
              </a:ext>
            </a:extLst>
          </p:cNvPr>
          <p:cNvSpPr/>
          <p:nvPr/>
        </p:nvSpPr>
        <p:spPr>
          <a:xfrm>
            <a:off x="365760" y="3787708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88901CF-5EA7-3A06-0B9C-1ED6B630D6CC}"/>
              </a:ext>
            </a:extLst>
          </p:cNvPr>
          <p:cNvSpPr txBox="1"/>
          <p:nvPr/>
        </p:nvSpPr>
        <p:spPr>
          <a:xfrm>
            <a:off x="400928" y="37877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&amp; Credit Dashboard</a:t>
            </a:r>
            <a:endParaRPr lang="en-US" sz="13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FBB41D6-C62B-E931-2133-CC68F99FA32D}"/>
              </a:ext>
            </a:extLst>
          </p:cNvPr>
          <p:cNvSpPr/>
          <p:nvPr/>
        </p:nvSpPr>
        <p:spPr>
          <a:xfrm>
            <a:off x="4617720" y="3786986"/>
            <a:ext cx="4160520" cy="329184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0D9E15E-9DA9-BD3A-79B5-0A5F27E898A8}"/>
              </a:ext>
            </a:extLst>
          </p:cNvPr>
          <p:cNvSpPr txBox="1"/>
          <p:nvPr/>
        </p:nvSpPr>
        <p:spPr>
          <a:xfrm>
            <a:off x="4673992" y="378698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Dashboard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342A38-5600-467E-0947-7290C7A5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99" y="914400"/>
            <a:ext cx="4090181" cy="2726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CE6504-14D0-F859-6619-21060EBFC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1" y="914400"/>
            <a:ext cx="4160520" cy="273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2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864D3C-B510-42DD-8A0C-24A9BB34F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1502</Words>
  <Application>Microsoft Office PowerPoint</Application>
  <PresentationFormat>On-screen Show (16:9)</PresentationFormat>
  <Paragraphs>253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Pinapaka Omkar</cp:lastModifiedBy>
  <cp:revision>8</cp:revision>
  <dcterms:created xsi:type="dcterms:W3CDTF">2026-10-01T10:38:17Z</dcterms:created>
  <dcterms:modified xsi:type="dcterms:W3CDTF">2026-10-07T15:07:28Z</dcterms:modified>
</cp:coreProperties>
</file>